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</a:rPr>
              <a:t>Проект сети Wi-Fi учебного 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D5E0F5"/>
                </a:solidFill>
              </a:rPr>
              <a:t>Расчёт размещения точек доступа Eltex WEP-2AC Smart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D5E0F5"/>
                </a:solidFill>
              </a:rPr>
              <a:t>Зоны покрытия 2.4 и 5 ГГц · план этажа, лист 14 (АР, 27.03.26)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D5E0F5"/>
                </a:solidFill>
              </a:rPr>
              <a:t>Перекрытия и стены — железобетон с базальтовым наполнением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971800"/>
            <a:ext cx="29260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Исходные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22A35"/>
                </a:solidFill>
              </a:rPr>
              <a:t>План этажа 30,0 × 27,0 м по листу 14 АР; 18 помещений; высоты и материалы из ведомости конструкций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13816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Параметр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Значение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/>
                        <a:t>Этаж / габариты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30,0 × 27,0 м (≈810 м² по контуру), высота этажа 4,8 м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/>
                        <a:t>Несущие конструкции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Монолитный ЖБ каркас; перекрытия 300 мм; стены 200 мм с базальтовым наполнением и арматурой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/>
                        <a:t>Модель AP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Eltex WEP-2AC Smart: 2×2 MIMO, 2.4 ГГц (802.11n) + 5 ГГц (802.11ac), Tx ≤ 20 дБм, PoE 802.3af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/>
                        <a:t>Клиенты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Ноутбуки/телефоны, приём −70 дБм как минимум качества (видео, VoWiFi)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/>
                        <a:t>Число точек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11 AP (проектное решение, см. слайды 5–8)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Затухание в конструкциях (литература + запас): ЖБ стена с базальтом ≈ 12 дБ @2,4 ГГц / ≈ 20 дБ @5 ГГц; перекрытие при размещении AP на этом же этаже не учитывается.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Методика радиопланирования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1. Геометрия. Векторное извлечение линий стен листа 14 PDF → калибровка по размерным цепям (30 000 × 27 000 мм) → модель в метрах; площади помещений сверены с экспликацией (расхождение &lt; 8% — толщины стен).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2. Распространение. RSS = Ptx + Ga − FSPL(d) − (n−2)·10·lg d − k·Aстены, где FSPL = 32,44 + 20·lg f(МГц) + 20·lg d(км); n = 2,7 (2,4 ГГц) / 3,2 (5 ГГц); Aстены = 12 / 20 дБ; k — число пересечений луча «AP→точка» со стенами (ray-casting по растровой модели пола, шаг 5 см).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3. Сетка расчёта. ~45 000 точек внутри всех 18 помещений (шаг 0,35 м); для каждой точки берётся лучший AP (roaming-критерий strongest signal).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4. Критерии. ≥ −60 дБм отлично; ≥ −67 хорошо; порог проекта −70 дБм. Покрытие = доля площади помещения выше порога.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5. Оптимизация. Размещение AP вручную по центру помещений + контроль минимума по дальним углам; для широких классов (№12, №13) и коридора — по две точки.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Схема размещения 11 точек доступа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22A35"/>
                </a:solidFill>
              </a:rPr>
              <a:t>Контур здания, стены, номера помещений 1–18, позиции AP (координаты от левого нижнего угла плана)</a:t>
            </a:r>
          </a:p>
        </p:txBody>
      </p:sp>
      <p:pic>
        <p:nvPicPr>
          <p:cNvPr id="4" name="Picture 3" descr="check_ge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234440"/>
            <a:ext cx="690053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Зона покрытия 2,4 ГГц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22A35"/>
                </a:solidFill>
              </a:rPr>
              <a:t>Тепловая карта RSSI поверх плана; рабочие помещения — 100% площади ≥ −70 дБм, по зданию 96,6%</a:t>
            </a:r>
          </a:p>
        </p:txBody>
      </p:sp>
      <p:pic>
        <p:nvPicPr>
          <p:cNvPr id="4" name="Picture 3" descr="wifi_map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188720"/>
            <a:ext cx="7156174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Зона покрытия 5 ГГц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22A35"/>
                </a:solidFill>
              </a:rPr>
              <a:t>Приоритетный диапазон внутри помещений; сквозь 2+ ЖБ стены приём ниже порога — это ожидаемо и компенсируется 2,4 ГГц</a:t>
            </a:r>
          </a:p>
        </p:txBody>
      </p:sp>
      <p:pic>
        <p:nvPicPr>
          <p:cNvPr id="4" name="Picture 3" descr="wifi_ma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188720"/>
            <a:ext cx="7156174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Уровни сигнала по помещениям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222A35"/>
                </a:solidFill>
              </a:rPr>
              <a:t>Средний / минимальный RSSI и доля площади ≥ −70 дБм; статус: ✔ норма, ~ частичное, ✘ вне нормирования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3258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822960"/>
                <a:gridCol w="1097280"/>
                <a:gridCol w="960120"/>
                <a:gridCol w="960120"/>
                <a:gridCol w="1097280"/>
                <a:gridCol w="960120"/>
                <a:gridCol w="960120"/>
                <a:gridCol w="1097280"/>
              </a:tblGrid>
              <a:tr h="26950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№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Помещение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S, м²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AP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2.4 сред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2.4 мин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2.4 покв.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5 сред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5 мин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5 покв.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Кабинет специалистов УТЦ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Кабинет преподавателей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ПК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ТЭС УЭЦН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корп. обучения №3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Гардероб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87A0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Санузел мужской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87A00"/>
                          </a:solidFill>
                        </a:rPr>
                        <a:t>74%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0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Санузел женский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02626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Тех. помещение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-123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-127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Склад хранения СИЗ РВ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Раздевалка спецодежды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корп. обучения №2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AP-12w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Класс корп. обучения №1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Серверная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Электрощитовая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-68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-96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Склад-Архив УТЦ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87A00"/>
                          </a:solidFill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950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ИТП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99%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-79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02626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26951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A3C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Коридор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AP-18e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4652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№7–9, 14–17 — санитарные/технические помещения: Wi-Fi не нормируется, покрытие обеспечивается остаточно через двери.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Комментарии по каждой точке доступа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 — Кабинет специалистов УТЦ (№1, 31 м²) — центр помещения; покрывает также серверную №14 через дверь (−63…−66 дБм).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AP-2 — Кабинет преподавателей (№2, 15 м²) — единственный AP малой комнаты, резерв мощности в соседние классы не требуется.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AP-3 — Класс ПК (№3, 87 м²) — плотная загрузка рабочих мест; один AP 2×2 ac держит −41 дБм в дальнем углу.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AP-4 — Класс ТЭС УЭЦН (№4, 53 м²) — центр зала, стабильный 5 ГГц на всей площади.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AP-5 — Класс корп. обучения №3 (№5, 54 м²) — аналогично AP-4.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AP-6 — Гардероб (№6, 49 м²) — обеспечивает входную группу и смежный коридор со стороны запада.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AP-12w — Запад класса №12 (85 м², 11,8×8,3 м) — ширина &gt; 8 м требует двух AP; служит источником покрытия для санузлов 7/8 и склада СИЗ №10.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AP-12e — Восток класса №12 — стыкуется с AP-12w (перекрытие ~30%), снимает мёртвую зону у перегородки №12/№13.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AP-13 — Класс корп. обучения №1 (№13, 96 м²) — центр; через одну стену даёт архиву №16 −51 дБм, щитовой №15 −67 дБм, ИТП №17 −59 дБм.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AP-18w — Коридор, западная половина (№18, 90 м², 24×2,8 м) — протяжённое помещение: один AP не закрывает far-end; обслуживает раздевалку №11.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</a:rPr>
              <a:t>AP-18e — Коридор, восточная половина — совместно с AP-18w даёт сквозной бесшовный роуминг по коридору (мин −57 дБм).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Выводы и 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22A35"/>
                </a:solidFill>
              </a:rPr>
              <a:t>✔ Принято 11 точек Eltex WEP-2AC Smart: 100% покрытие рабочих помещений на 2,4 ГГц (порог −70 дБм), 96,6% по зданию в целом.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✔ 5 ГГц доступен на всей площади кабинетов и классов (средний уровень −30…−44 дБм); сквозь 2 ЖБ стены уровень падает ниже порога — поэтому клиентские устройства должны использовать band steering с приоритетом 5 ГГц только внутри своего помещения.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22A35"/>
                </a:solidFill>
              </a:rPr>
              <a:t>Рекомендации по монтажу: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• Крепление на потолок (высота 2,8–3,5 м под перекрытием), удалённость от ЖБ балок ≥ 1 м; питание PoE от коммутатора в серверной №14 (длина кабелей UTP ≤ 90 м).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• Каналы: 2,4 ГГц — 1/6/11 по шахматному принципу; 5 ГГц — DFS-каналы, ширина 80 МГц в классах, 40 МГц в коридоре.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• SSID единый, 802.11r/fast BSS transition для бесшовного роуминга в коридоре между AP-18w/e и классами.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22A35"/>
                </a:solidFill>
              </a:rPr>
              <a:t>• После монтажа — контрольный радиообмер (Ekahau/WiFi Analyzer) по точкам с минимальным уровнем в каждом помещении.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