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1069848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FFFFF"/>
                </a:solidFill>
              </a:rPr>
              <a:t>Проект сети Wi-Fi учебного центра</a:t>
            </a:r>
          </a:p>
          <a:p>
            <a:r>
              <a:rPr sz="2000">
                <a:solidFill>
                  <a:srgbClr val="BFD7E6"/>
                </a:solidFill>
              </a:rPr>
              <a:t>Расчёт размещения точек доступа Eltex WEP-2AC Smart
Зоны покрытия 2.4 и 5 ГГц — план этажа, лист 14 (27.03.26 АР)</a:t>
            </a:r>
          </a:p>
          <a:p>
            <a:r>
              <a:rPr sz="1400">
                <a:solidFill>
                  <a:srgbClr val="8FAFC4"/>
                </a:solidFill>
              </a:rPr>
              <a:t>9 точек доступа · железобетонные перекрытия с базальтовым наполнением · октябрь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Исходные данные</a:t>
            </a:r>
          </a:p>
          <a:p>
            <a:r>
              <a:rPr sz="1300">
                <a:solidFill>
                  <a:srgbClr val="5A5A5A"/>
                </a:solidFill>
              </a:rPr>
              <a:t>Лист 14 «План этажа», 27.03.26 АР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577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/>
              <a:t>• Здание: учебный центр, 18 помещений, габариты этажа ≈ 26×18 м</a:t>
            </a:r>
          </a:p>
          <a:p>
            <a:pPr/>
            <a:r>
              <a:rPr sz="1500"/>
              <a:t>• Конструктив: монолитный ЖБК каркас; перекрытия 300 мм, стены 200 мм, наполнение — базальтовое волокно, двойное армирование</a:t>
            </a:r>
          </a:p>
          <a:p>
            <a:pPr/>
            <a:r>
              <a:rPr sz="1500"/>
              <a:t>• Высота потолка ~3 м — точка на потолке, высота монтажа 2,7–3,0 м</a:t>
            </a:r>
          </a:p>
          <a:p>
            <a:pPr/>
            <a:r>
              <a:rPr sz="1500"/>
              <a:t>• Клиенты: ноутбуки, смартфоны, планшеты (класс приёма ≥ −70 дБм)</a:t>
            </a:r>
          </a:p>
          <a:p>
            <a:pPr/>
            <a:r>
              <a:rPr sz="1500"/>
              <a:t>• Точки доступа: Eltex WEP-2AC Smart (2×2 MIMO, dual-band concurrent, PoE 802.3af)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188720"/>
            <a:ext cx="53035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/>
              <a:t>• Особенности распространения в ЖБ с базальтом:</a:t>
            </a:r>
          </a:p>
          <a:p>
            <a:pPr lvl="1"/>
            <a:r>
              <a:rPr sz="1400"/>
              <a:t>– затухание одной несущей стены ≈ 12 дБ @ 2,4 ГГц / ≈ 20 дБ @ 5 ГГц</a:t>
            </a:r>
          </a:p>
          <a:p>
            <a:pPr lvl="1"/>
            <a:r>
              <a:rPr sz="1400"/>
              <a:t>– коэффициент потерь в помещении n = 2,7 (2,4 ГГц) / 3,0 (5 ГГц)</a:t>
            </a:r>
          </a:p>
          <a:p>
            <a:pPr lvl="1"/>
            <a:r>
              <a:rPr sz="1400"/>
              <a:t>– через коридор = 2 стены: −24 дБ (2,4) / −40 дБ (5)</a:t>
            </a:r>
          </a:p>
          <a:p>
            <a:pPr/>
            <a:r>
              <a:rPr sz="1500"/>
              <a:t>• Санузлы/мокрые зоны и техпомещения экранируют сигнал сильнее обычных стен</a:t>
            </a:r>
          </a:p>
          <a:p>
            <a:pPr/>
            <a:r>
              <a:rPr sz="1500"/>
              <a:t>• Серверная (№14) — AP внутри помещения, выделенный SSID управления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Методика радиопланирования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/>
              <a:t>• Расчётная модель RSS:  L = Ptx − FSPL(d) − (n−2)·10·lg(d) − k·ATT_стены</a:t>
            </a:r>
          </a:p>
          <a:p>
            <a:pPr lvl="1"/>
            <a:r>
              <a:rPr sz="1400"/>
              <a:t>– Ptx = 20 дБм (Eltex WEP-2AC Smart, EIRP до 23 дБм учтён с запасом на антенну 2 дБи)</a:t>
            </a:r>
          </a:p>
          <a:p>
            <a:pPr lvl="1"/>
            <a:r>
              <a:rPr sz="1400"/>
              <a:t>– FSPL — свободное пространство: 40 дБ @2,4 ГГц / 47 дБ @5 ГГц на 1 м</a:t>
            </a:r>
          </a:p>
          <a:p>
            <a:pPr lvl="1"/>
            <a:r>
              <a:rPr sz="1400"/>
              <a:t>– k — число пересечённых стен по лучу «точка → приёмник» (граф помещений из DXF-геометрии плана)</a:t>
            </a:r>
          </a:p>
          <a:p>
            <a:pPr/>
            <a:r>
              <a:rPr sz="1500"/>
              <a:t>• Сетка расчёта 0,25 м поверх векторной геометрии листа 14; калибровка план→метры по экспликации</a:t>
            </a:r>
          </a:p>
          <a:p>
            <a:pPr/>
            <a:r>
              <a:rPr sz="1500"/>
              <a:t>• Критерии качества: ≥ −60 дБм отлично · ≥ −67 хорошо · ≥ −70 приемлемо (порог клиентов) · &lt; −75 вне_service</a:t>
            </a:r>
          </a:p>
          <a:p>
            <a:pPr/>
            <a:r>
              <a:rPr sz="1500"/>
              <a:t>• Целевая загрузка: основной трафик — 5 ГГц в пределах одного помещения; 2,4 ГГц — резерв/IoT/дальние зоны</a:t>
            </a:r>
          </a:p>
          <a:p>
            <a:pPr/>
            <a:r>
              <a:rPr sz="1500"/>
              <a:t>• Роуминг: 802.11k/v, каналы чередуются 1/6/11 (2,4) и 36/40/44/48/149/153 (5), мощность снижена до уровня ‹перекрываемого› соседом на −75 дБм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Карта покрытия 2,4 ГГц</a:t>
            </a:r>
          </a:p>
          <a:p>
            <a:r>
              <a:rPr sz="1300">
                <a:solidFill>
                  <a:srgbClr val="5A5A5A"/>
                </a:solidFill>
              </a:rPr>
              <a:t>9 точек Eltex WEP-2AC Smart · пороги −60/−67/−70 дБм</a:t>
            </a:r>
          </a:p>
        </p:txBody>
      </p:sp>
      <p:pic>
        <p:nvPicPr>
          <p:cNvPr id="3" name="Picture 2" descr="wifi_map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8412480" cy="68394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0" y="1188720"/>
            <a:ext cx="30175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/>
              <a:t>• Учебные/рабочие зоны: 97,8% площади ≥ −70 дБм</a:t>
            </a:r>
          </a:p>
          <a:p>
            <a:pPr/>
            <a:r>
              <a:rPr sz="1300"/>
              <a:t>• Худшие точки — дальние углы склада СИЗ (№10): −71 дБм</a:t>
            </a:r>
          </a:p>
          <a:p>
            <a:pPr/>
            <a:r>
              <a:rPr sz="1300"/>
              <a:t>• Каждое помещение получает ≥ −60 дБм в своей зоне от «домашней» AP</a:t>
            </a:r>
          </a:p>
          <a:p>
            <a:pPr/>
            <a:r>
              <a:rPr sz="1300"/>
              <a:t>• Пересечение сот соседних комнат держим ≤ −72 дБм — чтобы клиент не «залипал» на чужой AP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Карта покрытия 5 ГГц</a:t>
            </a:r>
          </a:p>
          <a:p>
            <a:r>
              <a:rPr sz="1300">
                <a:solidFill>
                  <a:srgbClr val="5A5A5A"/>
                </a:solidFill>
              </a:rPr>
              <a:t>Затухание в ЖБ-стенах +8 дБ относительно 2,4 ГГц</a:t>
            </a:r>
          </a:p>
        </p:txBody>
      </p:sp>
      <p:pic>
        <p:nvPicPr>
          <p:cNvPr id="3" name="Picture 2" descr="wifi_map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8412480" cy="68394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0" y="1188720"/>
            <a:ext cx="30175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/>
              <a:t>• Покрытие 5 ГГц ограничено пределами помещения установки AP (73,9% нормируемых зон ≥ −70 дБм)</a:t>
            </a:r>
          </a:p>
          <a:p>
            <a:pPr/>
            <a:r>
              <a:rPr sz="1300"/>
              <a:t>• Через одну ЖБ-стену 5 ГГц деградирует до −80…−90 дБм — межкомнатный роуминг планируем на 2,4 ГГц</a:t>
            </a:r>
          </a:p>
          <a:p>
            <a:pPr/>
            <a:r>
              <a:rPr sz="1300"/>
              <a:t>• Внутри классов и коридора — уверенные −35…−50 дБм: приоритет полосы именно здесь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Размещение точек доступа — комментарий по каждой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143000"/>
          <a:ext cx="1143000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834640"/>
                <a:gridCol w="7680960"/>
              </a:tblGrid>
              <a:tr h="539496">
                <a:tc>
                  <a:txBody>
                    <a:bodyPr/>
                    <a:lstStyle/>
                    <a:p>
                      <a:r>
                        <a:rPr b="1" sz="1200"/>
                        <a:t>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200"/>
                        <a:t>Точка установки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200"/>
                        <a:t>Комментарий</a:t>
                      </a:r>
                    </a:p>
                  </a:txBody>
                  <a:tcPr/>
                </a:tc>
              </a:tr>
              <a:tr h="539496">
                <a:tc>
                  <a:txBody>
                    <a:bodyPr/>
                    <a:lstStyle/>
                    <a:p>
                      <a:r>
                        <a:rPr sz="1100" b="1"/>
                        <a:t>AP-1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Кабинет №1 (3,6×8,0 м), потолок по центру. Покрывает кабинет специалистов УТЦ (−34 дБм) и через тамбур — раздевалку №11 (−64 дБм); гардероб №6 обслуживает с уровнем −54 дБм.</a:t>
                      </a:r>
                    </a:p>
                  </a:txBody>
                  <a:tcPr/>
                </a:tc>
              </a:tr>
              <a:tr h="539496">
                <a:tc>
                  <a:txBody>
                    <a:bodyPr/>
                    <a:lstStyle/>
                    <a:p>
                      <a:r>
                        <a:rPr sz="1100" b="1"/>
                        <a:t>AP-2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Кабинет преподавателей №2 (3,1×2,7 м). Малое помещение, один AP с избытком (−25 дБм); мощность снизить до −6 дБм во избежание overplotting.</a:t>
                      </a:r>
                    </a:p>
                  </a:txBody>
                  <a:tcPr/>
                </a:tc>
              </a:tr>
              <a:tr h="539496">
                <a:tc>
                  <a:txBody>
                    <a:bodyPr/>
                    <a:lstStyle/>
                    <a:p>
                      <a:r>
                        <a:rPr sz="1100" b="1"/>
                        <a:t>AP-3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Класс ПК №3 (S=90,8 м², вытянутый 3,1×5,1 по сетке — фактически зал). Центральный монтаж, 2×2 MIMO достаточно для плотности до ~40 клиентов.</a:t>
                      </a:r>
                    </a:p>
                  </a:txBody>
                  <a:tcPr/>
                </a:tc>
              </a:tr>
              <a:tr h="539496">
                <a:tc>
                  <a:txBody>
                    <a:bodyPr/>
                    <a:lstStyle/>
                    <a:p>
                      <a:r>
                        <a:rPr sz="1100" b="1"/>
                        <a:t>AP-4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Класс ТЭС УЭЦН №4 (6,2×7,3 м). Центр комнаты, уровень −34 дБм в среднем; станки/стенды экранируют — проверять посты у дальней стены (не ниже −60).</a:t>
                      </a:r>
                    </a:p>
                  </a:txBody>
                  <a:tcPr/>
                </a:tc>
              </a:tr>
              <a:tr h="539496">
                <a:tc>
                  <a:txBody>
                    <a:bodyPr/>
                    <a:lstStyle/>
                    <a:p>
                      <a:r>
                        <a:rPr sz="1100" b="1"/>
                        <a:t>AP-5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Класс корп. обучения №3 (№5, 3,8×7,3 м). Монтаж над рабочей зоной, ближе к середине длинной оси; −32 дБм.</a:t>
                      </a:r>
                    </a:p>
                  </a:txBody>
                  <a:tcPr/>
                </a:tc>
              </a:tr>
              <a:tr h="539496">
                <a:tc>
                  <a:txBody>
                    <a:bodyPr/>
                    <a:lstStyle/>
                    <a:p>
                      <a:r>
                        <a:rPr sz="1100" b="1"/>
                        <a:t>AP-12w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Западная половина большого класса №12 (11,8×8,3 м). Один AP не покрывает ширину зала через внутренние ЖБ-колонны — зал разрезан на две соты.</a:t>
                      </a:r>
                    </a:p>
                  </a:txBody>
                  <a:tcPr/>
                </a:tc>
              </a:tr>
              <a:tr h="539496">
                <a:tc>
                  <a:txBody>
                    <a:bodyPr/>
                    <a:lstStyle/>
                    <a:p>
                      <a:r>
                        <a:rPr sz="1100" b="1"/>
                        <a:t>AP-12e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Восточная половина класса №12 и класс №13 (S=130 м²): −36…−48 дБм; обеспечивает смежные склад-архив №16 (−51 дБм) и ИТП как источник помех учитывается.</a:t>
                      </a:r>
                    </a:p>
                  </a:txBody>
                  <a:tcPr/>
                </a:tc>
              </a:tr>
              <a:tr h="539496">
                <a:tc>
                  <a:txBody>
                    <a:bodyPr/>
                    <a:lstStyle/>
                    <a:p>
                      <a:r>
                        <a:rPr sz="1100" b="1"/>
                        <a:t>AP-18w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Коридор №18 (9,0×2,8 м), западная треть. «Дальнобойная» сота: гардероб, раздевалка, техпомещение; −29 дБм в коридоре.</a:t>
                      </a:r>
                    </a:p>
                  </a:txBody>
                  <a:tcPr/>
                </a:tc>
              </a:tr>
              <a:tr h="539496">
                <a:tc>
                  <a:txBody>
                    <a:bodyPr/>
                    <a:lstStyle/>
                    <a:p>
                      <a:r>
                        <a:rPr sz="1100" b="1"/>
                        <a:t>AP-18e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Коридор, восточная треть, рядом с серверной №14 и электрощитовой №15. Серверная получает −56 дБм (для мониторинга/AP-управления этого достаточно).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Уровни сигнала по помещениям</a:t>
            </a:r>
          </a:p>
          <a:p>
            <a:r>
              <a:rPr sz="1300">
                <a:solidFill>
                  <a:srgbClr val="5A5A5A"/>
                </a:solidFill>
              </a:rPr>
              <a:t>cp — средний RSS в комнате, min — худшая точка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996696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291840"/>
                <a:gridCol w="1188720"/>
                <a:gridCol w="822960"/>
                <a:gridCol w="822960"/>
                <a:gridCol w="822960"/>
                <a:gridCol w="822960"/>
                <a:gridCol w="822960"/>
                <a:gridCol w="914400"/>
              </a:tblGrid>
              <a:tr h="5486400">
                <a:tc>
                  <a:txBody>
                    <a:bodyPr/>
                    <a:lstStyle/>
                    <a:p>
                      <a:r>
                        <a:rPr b="1" sz="1000"/>
                        <a:t>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000"/>
                        <a:t>Помещение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000"/>
                        <a:t>Размеры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000"/>
                        <a:t>S, м²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000"/>
                        <a:t>2,4 ср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000"/>
                        <a:t>2,4 мин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000"/>
                        <a:t>5 ср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000"/>
                        <a:t>5 мин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000"/>
                        <a:t>AP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Выводы и 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/>
              <a:t>• Достаточно 9 точек Eltex WEP-2AC Smart: все нормируемые помещения получают ≥ −60 дБм внутри своей зоны, 97,8% рабочих зон ≥ −70 дБм на 2,4 ГГц</a:t>
            </a:r>
          </a:p>
          <a:p>
            <a:pPr/>
            <a:r>
              <a:rPr sz="1500"/>
              <a:t>• Железобетон с базальтовым наполнением — главный фактор: одна стена = −12 дБ (2,4) / −20 дБ (5). Размещать AP строго внутри помещений, а не в коридоре «на просвет»</a:t>
            </a:r>
          </a:p>
          <a:p>
            <a:pPr/>
            <a:r>
              <a:rPr sz="1500"/>
              <a:t>• Большие залы (№12/13, 11,8×8,3 м) требуют двух сот — единый AP не проходит по ширине через колонны каркаса</a:t>
            </a:r>
          </a:p>
          <a:p>
            <a:pPr/>
            <a:r>
              <a:rPr sz="1500"/>
              <a:t>• 5 ГГц использовать только в границах помещения установки AP; межкомнатный роуминг и IoT держать на 2,4 ГГц</a:t>
            </a:r>
          </a:p>
          <a:p>
            <a:pPr/>
            <a:r>
              <a:rPr sz="1500"/>
              <a:t>• Питание: PoE 802.3af от коммутатора в серверной №14; трассы слаботока прокладывать в лотках над подвесным потолком, минуя ЖБ-перегородки</a:t>
            </a:r>
          </a:p>
          <a:p>
            <a:pPr/>
            <a:r>
              <a:rPr sz="1500"/>
              <a:t>• После монтажа — активное радиообследование (in-site survey) и настройка мощностей: соседние соты должны перекрываться на уровне ≤ −72 дБм</a:t>
            </a:r>
          </a:p>
          <a:p>
            <a:pPr/>
            <a:r>
              <a:rPr sz="1500"/>
              <a:t>• Резерв ёмкости: в классах №3 и №12 при &gt;50 клиентов добавить вторую радиокарту/AP на 5 ГГц (WEP-2AC Smart поддерживает concurrent)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