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val 3"/>
          <p:cNvSpPr/>
          <p:nvPr/>
        </p:nvSpPr>
        <p:spPr>
          <a:xfrm>
            <a:off x="7132320" y="-1783080"/>
            <a:ext cx="5669280" cy="5669280"/>
          </a:xfrm>
          <a:prstGeom prst="ellipse">
            <a:avLst/>
          </a:prstGeom>
          <a:solidFill>
            <a:srgbClr val="145A8F"/>
          </a:solidFill>
          <a:ln w="15240">
            <a:solidFill>
              <a:srgbClr val="145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79" y="-960120"/>
            <a:ext cx="4023360" cy="4023360"/>
          </a:xfrm>
          <a:prstGeom prst="ellipse">
            <a:avLst/>
          </a:prstGeom>
          <a:solidFill>
            <a:srgbClr val="1E6EA5"/>
          </a:solidFill>
          <a:ln w="15240">
            <a:solidFill>
              <a:srgbClr val="1E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32520" y="-182880"/>
            <a:ext cx="2468880" cy="2468880"/>
          </a:xfrm>
          <a:prstGeom prst="ellipse">
            <a:avLst/>
          </a:prstGeom>
          <a:solidFill>
            <a:srgbClr val="00A596"/>
          </a:solidFill>
          <a:ln w="15240">
            <a:solidFill>
              <a:srgbClr val="FFD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31750"/>
          </a:xfrm>
          <a:prstGeom prst="rect">
            <a:avLst/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10928" y="77724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D54F"/>
                </a:solidFill>
                <a:latin typeface="Calibri"/>
              </a:rPr>
              <a:t>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54F"/>
                </a:solidFill>
                <a:latin typeface="Calibri"/>
              </a:rPr>
              <a:t>ПРОЕКТ СЕТИ БЕСПРОВОДНОГО ДОСТУПА · УЧЕБНЫЙ ЦЕНТР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9692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FFFFFF"/>
                </a:solidFill>
                <a:latin typeface="Calibri"/>
              </a:rPr>
              <a:t>Размещение точек Wi-Fi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BFD9EE"/>
                </a:solidFill>
                <a:latin typeface="Calibri"/>
              </a:rPr>
              <a:t>Eltex WEP-2AC Smart — расчёт покрытия 2,4 и 5 ГГц</a:t>
            </a:r>
          </a:p>
        </p:txBody>
      </p:sp>
      <p:pic>
        <p:nvPicPr>
          <p:cNvPr id="10" name="Picture 9" descr="kpi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274" y="4526280"/>
            <a:ext cx="8098971" cy="1417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62636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FC5E2"/>
                </a:solidFill>
                <a:latin typeface="Calibri"/>
              </a:rPr>
              <a:t>Основание: план этажа, лист 14 альбома АР от 27.03.26 · монолитный каркас, ЖБ стены и перекрытия с базальтовым наполнением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D54F"/>
                </a:solidFill>
                <a:latin typeface="Calibri"/>
              </a:rPr>
              <a:t>РЕЗЮМЕ ДЛЯ РУКОВОДСТВА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Ключевые результаты проектирования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9FC5E2"/>
                </a:solidFill>
                <a:latin typeface="Calibri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3999" y="1371600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3999" y="1371600"/>
            <a:ext cx="2697480" cy="128016"/>
          </a:xfrm>
          <a:prstGeom prst="rect">
            <a:avLst/>
          </a:prstGeom>
          <a:solidFill>
            <a:srgbClr val="14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1159" y="1691640"/>
            <a:ext cx="2423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45A8F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159" y="248716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12121"/>
                </a:solidFill>
                <a:latin typeface="Calibri"/>
              </a:rPr>
              <a:t>точек доступа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159" y="2907792"/>
            <a:ext cx="2423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606C76"/>
                </a:solidFill>
                <a:latin typeface="Calibri"/>
              </a:rPr>
              <a:t>Eltex WEP-2AC Smart
потолок, PoE 802.3af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6071" y="1371600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6071" y="1371600"/>
            <a:ext cx="2697480" cy="128016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3231" y="1691640"/>
            <a:ext cx="2423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E8E3E"/>
                </a:solidFill>
                <a:latin typeface="Calibr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3231" y="248716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12121"/>
                </a:solidFill>
                <a:latin typeface="Calibri"/>
              </a:rPr>
              <a:t>рабочих зон · 2,4 ГГц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3231" y="2907792"/>
            <a:ext cx="2423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606C76"/>
                </a:solidFill>
                <a:latin typeface="Calibri"/>
              </a:rPr>
              <a:t>11 учебных/служебных помещений
RSSI ≥ −70 дБм на всей площади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8143" y="1371600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8143" y="1371600"/>
            <a:ext cx="2697480" cy="128016"/>
          </a:xfrm>
          <a:prstGeom prst="rect">
            <a:avLst/>
          </a:prstGeom>
          <a:solidFill>
            <a:srgbClr val="00A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5303" y="1691640"/>
            <a:ext cx="2423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00A596"/>
                </a:solidFill>
                <a:latin typeface="Calibri"/>
              </a:rPr>
              <a:t>96,6%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5303" y="248716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12121"/>
                </a:solidFill>
                <a:latin typeface="Calibri"/>
              </a:rPr>
              <a:t>этажа · 2,4 ГГц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5303" y="2907792"/>
            <a:ext cx="2423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606C76"/>
                </a:solidFill>
                <a:latin typeface="Calibri"/>
              </a:rPr>
              <a:t>включая коридор и смежные
вспомогательные помещения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0215" y="1371600"/>
            <a:ext cx="2697480" cy="21488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40215" y="1371600"/>
            <a:ext cx="2697480" cy="128016"/>
          </a:xfrm>
          <a:prstGeom prst="rect">
            <a:avLst/>
          </a:prstGeom>
          <a:solidFill>
            <a:srgbClr val="8E2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7375" y="1691640"/>
            <a:ext cx="2423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8E24AA"/>
                </a:solidFill>
                <a:latin typeface="Calibri"/>
              </a:rPr>
              <a:t>−67 дБм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7375" y="248716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12121"/>
                </a:solidFill>
                <a:latin typeface="Calibri"/>
              </a:rPr>
              <a:t>гарантированный край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7375" y="2907792"/>
            <a:ext cx="2423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606C76"/>
                </a:solidFill>
                <a:latin typeface="Calibri"/>
              </a:rPr>
              <a:t>резерв ~10 дБ до порога
клиентов ноутбуков/телефонов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977639"/>
            <a:ext cx="108356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16052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3D66"/>
                </a:solidFill>
                <a:latin typeface="Calibri"/>
              </a:rPr>
              <a:t>Что это значит на практике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10332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00A596"/>
                </a:solidFill>
                <a:latin typeface="Calibri"/>
              </a:rPr>
              <a:t>▸ </a:t>
            </a:r>
            <a:r>
              <a:rPr sz="1250" b="0">
                <a:solidFill>
                  <a:srgbClr val="212121"/>
                </a:solidFill>
                <a:latin typeface="Calibri"/>
              </a:rPr>
              <a:t>Каждое учебное помещение обеспечено собственным радиоканалом: класс ПК, два больших класса, кабинеты — по одной точке; широкие залы №12/13 закрываются двумя AP.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00A596"/>
                </a:solidFill>
                <a:latin typeface="Calibri"/>
              </a:rPr>
              <a:t>▸ </a:t>
            </a:r>
            <a:r>
              <a:rPr sz="1250" b="0">
                <a:solidFill>
                  <a:srgbClr val="212121"/>
                </a:solidFill>
                <a:latin typeface="Calibri"/>
              </a:rPr>
              <a:t>Коридор покрыт двумя точками «сотами» к санузлам, складу СИЗ и раздевалке — там Wi-Fi не нормируется, но связь для IoT/дежурных сохраняется.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00A596"/>
                </a:solidFill>
                <a:latin typeface="Calibri"/>
              </a:rPr>
              <a:t>▸ </a:t>
            </a:r>
            <a:r>
              <a:rPr sz="1250" b="0">
                <a:solidFill>
                  <a:srgbClr val="212121"/>
                </a:solidFill>
                <a:latin typeface="Calibri"/>
              </a:rPr>
              <a:t>На 5 ГГц сквозное покрытие сквозь ЖБ стены ограничено (физика): приоритет трафика — внутри своего помещения, роуминг 802.11k/v/r держит сессию при перемещении.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>
                <a:solidFill>
                  <a:srgbClr val="00A596"/>
                </a:solidFill>
                <a:latin typeface="Calibri"/>
              </a:rPr>
              <a:t>▸ </a:t>
            </a:r>
            <a:r>
              <a:rPr sz="1250" b="0">
                <a:solidFill>
                  <a:srgbClr val="212121"/>
                </a:solidFill>
                <a:latin typeface="Calibri"/>
              </a:rPr>
              <a:t>Запас по сигналу позволяет стойко принимать видеозанятия и тестирование даже в дальних углах при открытии дверей и перестановке мебели.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601968"/>
            <a:ext cx="11155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06C76"/>
                </a:solidFill>
                <a:latin typeface="Calibri"/>
              </a:rPr>
              <a:t>Wi-Fi проектирование · Eltex WEP-2AC Smart · лист 14 АР 27.03.26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D54F"/>
                </a:solidFill>
                <a:latin typeface="Calibri"/>
              </a:rPr>
              <a:t>БАЗА РАСЧЁТА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Исходные данные объекта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9FC5E2"/>
                </a:solidFill>
                <a:latin typeface="Calibr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394960" cy="896112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109728" cy="896112"/>
          </a:xfrm>
          <a:prstGeom prst="rect">
            <a:avLst/>
          </a:prstGeom>
          <a:solidFill>
            <a:srgbClr val="14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3D66"/>
                </a:solidFill>
                <a:latin typeface="Calibri"/>
              </a:rPr>
              <a:t>Габариты этажа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099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12121"/>
                </a:solidFill>
                <a:latin typeface="Calibri"/>
              </a:rPr>
              <a:t>30,0 × 27,0 м (лист 14 АР)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31720"/>
            <a:ext cx="5394960" cy="896112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31720"/>
            <a:ext cx="109728" cy="896112"/>
          </a:xfrm>
          <a:prstGeom prst="rect">
            <a:avLst/>
          </a:prstGeom>
          <a:solidFill>
            <a:srgbClr val="14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231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3D66"/>
                </a:solidFill>
                <a:latin typeface="Calibri"/>
              </a:rPr>
              <a:t>Помещений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1576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12121"/>
                </a:solidFill>
                <a:latin typeface="Calibri"/>
              </a:rPr>
              <a:t>18 шт., экспликация сверена с чертежом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7560"/>
            <a:ext cx="5394960" cy="896112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337560"/>
            <a:ext cx="109728" cy="896112"/>
          </a:xfrm>
          <a:prstGeom prst="rect">
            <a:avLst/>
          </a:prstGeom>
          <a:solidFill>
            <a:srgbClr val="14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290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3D66"/>
                </a:solidFill>
                <a:latin typeface="Calibri"/>
              </a:rPr>
              <a:t>Конструкции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2160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12121"/>
                </a:solidFill>
                <a:latin typeface="Calibri"/>
              </a:rPr>
              <a:t>монолитный ЖБ-каркас; стены 200 мм, перекрытие 300 мм, наполнение — базальтовое волокно, арматура Ø10–16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43400"/>
            <a:ext cx="5394960" cy="896112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343400"/>
            <a:ext cx="109728" cy="896112"/>
          </a:xfrm>
          <a:prstGeom prst="rect">
            <a:avLst/>
          </a:prstGeom>
          <a:solidFill>
            <a:srgbClr val="14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348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3D66"/>
                </a:solidFill>
                <a:latin typeface="Calibri"/>
              </a:rPr>
              <a:t>Высота монтажа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2744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12121"/>
                </a:solidFill>
                <a:latin typeface="Calibri"/>
              </a:rPr>
              <a:t>потолок, ≈ 3,5–4,0 м от пола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49240"/>
            <a:ext cx="5394960" cy="896112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349240"/>
            <a:ext cx="109728" cy="896112"/>
          </a:xfrm>
          <a:prstGeom prst="rect">
            <a:avLst/>
          </a:prstGeom>
          <a:solidFill>
            <a:srgbClr val="14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4406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3D66"/>
                </a:solidFill>
                <a:latin typeface="Calibri"/>
              </a:rPr>
              <a:t>Клиенты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73328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212121"/>
                </a:solidFill>
                <a:latin typeface="Calibri"/>
              </a:rPr>
              <a:t>ноутбуки/телефоны классов Wi‑Fi 5, приём −70 дБм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1325880"/>
            <a:ext cx="5394960" cy="2834640"/>
          </a:xfrm>
          <a:prstGeom prst="roundRect">
            <a:avLst>
              <a:gd name="adj" fmla="val 8000"/>
            </a:avLst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48132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54F"/>
                </a:solidFill>
                <a:latin typeface="Calibri"/>
              </a:rPr>
              <a:t>Радиомодель зданий (принято)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19202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Calibri"/>
              </a:rPr>
              <a:t>Свободное пространство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19202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BFD9EE"/>
                </a:solidFill>
                <a:latin typeface="Calibri"/>
              </a:rPr>
              <a:t>FSPL 40 дБ @1 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35000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Calibri"/>
              </a:rPr>
              <a:t>Открытое помещение (коридор)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235000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BFD9EE"/>
                </a:solidFill>
                <a:latin typeface="Calibri"/>
              </a:rPr>
              <a:t>затухание по пути n = 2,7 / 3,0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77977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Calibri"/>
              </a:rPr>
              <a:t>Стена ЖБ + базальт, 200 мм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277977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BFD9EE"/>
                </a:solidFill>
                <a:latin typeface="Calibri"/>
              </a:rPr>
              <a:t>12 дБ @2,4 · 20 дБ @5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20954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Calibri"/>
              </a:rPr>
              <a:t>Перегородка гипрок/кирпич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32095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BFD9EE"/>
                </a:solidFill>
                <a:latin typeface="Calibri"/>
              </a:rPr>
              <a:t>6 дБ @2,4 · 9 дБ @5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63931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Calibri"/>
              </a:rPr>
              <a:t>Перекрытие между этажами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363931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BFD9EE"/>
                </a:solidFill>
                <a:latin typeface="Calibri"/>
              </a:rPr>
              <a:t>18–25 дБ (не используется)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4343400"/>
            <a:ext cx="5394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4805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3D66"/>
                </a:solidFill>
                <a:latin typeface="Calibri"/>
              </a:rPr>
              <a:t>Требования к качеству связи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4846320"/>
            <a:ext cx="1600200" cy="310896"/>
          </a:xfrm>
          <a:prstGeom prst="roundRect">
            <a:avLst>
              <a:gd name="adj" fmla="val 8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873752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≥ −60 дБм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257800"/>
            <a:ext cx="1645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06C76"/>
                </a:solidFill>
                <a:latin typeface="Calibri"/>
              </a:rPr>
              <a:t>отлично (видео, VoWiFi)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83880" y="4846320"/>
            <a:ext cx="1600200" cy="310896"/>
          </a:xfrm>
          <a:prstGeom prst="roundRect">
            <a:avLst>
              <a:gd name="adj" fmla="val 8000"/>
            </a:avLst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80" y="4873752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≥ −67 дБм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5257800"/>
            <a:ext cx="1645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06C76"/>
                </a:solidFill>
                <a:latin typeface="Calibri"/>
              </a:rPr>
              <a:t>хорошо (веб, тесты)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75520" y="4846320"/>
            <a:ext cx="1600200" cy="310896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20" y="4873752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≥ −70 дБм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5257800"/>
            <a:ext cx="1645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06C76"/>
                </a:solidFill>
                <a:latin typeface="Calibri"/>
              </a:rPr>
              <a:t>минимум для клиентов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6601968"/>
            <a:ext cx="11155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06C76"/>
                </a:solidFill>
                <a:latin typeface="Calibri"/>
              </a:rPr>
              <a:t>Wi-Fi проектирование · Eltex WEP-2AC Smart · лист 14 АР 27.03.26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D54F"/>
                </a:solidFill>
                <a:latin typeface="Calibri"/>
              </a:rPr>
              <a:t>КАК СЧИТАЛИ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Методика радиопланирования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9FC5E2"/>
                </a:solidFill>
                <a:latin typeface="Calibr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2148840" cy="932688"/>
          </a:xfrm>
          <a:prstGeom prst="roundRect">
            <a:avLst>
              <a:gd name="adj" fmla="val 8000"/>
            </a:avLst>
          </a:prstGeom>
          <a:solidFill>
            <a:srgbClr val="14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1 · Геометрия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389888"/>
            <a:ext cx="8503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12121"/>
                </a:solidFill>
                <a:latin typeface="Calibri"/>
              </a:rPr>
              <a:t>Векторное извлечение линий стен листа 14 PDF → калибровка по размерным цепям 30 000×27 000 мм → метрическая модель помещений (расхождения с экспликацией ≤ 8%).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04288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304288"/>
            <a:ext cx="2148840" cy="932688"/>
          </a:xfrm>
          <a:prstGeom prst="roundRect">
            <a:avLst>
              <a:gd name="adj" fmla="val 8000"/>
            </a:avLst>
          </a:prstGeom>
          <a:solidFill>
            <a:srgbClr val="14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7860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2 · Модель потерь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414016"/>
            <a:ext cx="8503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12121"/>
                </a:solidFill>
                <a:latin typeface="Calibri"/>
              </a:rPr>
              <a:t>RSS = Tx 20 дБм − FSPL(d) − (n−2)·10·lg d − Σ ATT стен; трассировка луча AP→точка с подсчётом пересечённых стен (ray-casting).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28416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328416"/>
            <a:ext cx="2148840" cy="932688"/>
          </a:xfrm>
          <a:prstGeom prst="roundRect">
            <a:avLst>
              <a:gd name="adj" fmla="val 8000"/>
            </a:avLst>
          </a:prstGeom>
          <a:solidFill>
            <a:srgbClr val="14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02736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3 · Сетка расчёта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438144"/>
            <a:ext cx="8503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12121"/>
                </a:solidFill>
                <a:latin typeface="Calibri"/>
              </a:rPr>
              <a:t>Растр 0,05 м только внутри помещений (44 900 точек); для каждой точки — лучший из 11 передатчиков, раздельно 2,4 и 5 ГГц.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52544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4352544"/>
            <a:ext cx="2148840" cy="932688"/>
          </a:xfrm>
          <a:prstGeom prst="roundRect">
            <a:avLst>
              <a:gd name="adj" fmla="val 8000"/>
            </a:avLst>
          </a:prstGeom>
          <a:solidFill>
            <a:srgbClr val="14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4 · Оптимизация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462272"/>
            <a:ext cx="8503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12121"/>
                </a:solidFill>
                <a:latin typeface="Calibri"/>
              </a:rPr>
              <a:t>Жадный выбор позиций: максимум площади ≥ −70 дБм при минимуме AP; фиксация центров помещений и симметрия коридора.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76672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5376672"/>
            <a:ext cx="2148840" cy="932688"/>
          </a:xfrm>
          <a:prstGeom prst="roundRect">
            <a:avLst>
              <a:gd name="adj" fmla="val 8000"/>
            </a:avLst>
          </a:prstGeom>
          <a:solidFill>
            <a:srgbClr val="14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65099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5 · Контроль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486400"/>
            <a:ext cx="8503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212121"/>
                </a:solidFill>
                <a:latin typeface="Calibri"/>
              </a:rPr>
              <a:t>Проверка: все AP внутри контура, минимум RSSI по каждому помещению, % площади выше порогов −60/−67/−70.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601968"/>
            <a:ext cx="11155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06C76"/>
                </a:solidFill>
                <a:latin typeface="Calibri"/>
              </a:rPr>
              <a:t>Wi-Fi проектирование · Eltex WEP-2AC Smart · лист 14 АР 27.03.26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D54F"/>
                </a:solidFill>
                <a:latin typeface="Calibri"/>
              </a:rPr>
              <a:t>СХЕМА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Размещение 11 точек доступа на плане этажа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9FC5E2"/>
                </a:solidFill>
                <a:latin typeface="Calibr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9052" y="1078230"/>
            <a:ext cx="6443056" cy="5295900"/>
          </a:xfrm>
          <a:prstGeom prst="rect">
            <a:avLst/>
          </a:prstGeom>
          <a:noFill/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ifi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102" y="1097280"/>
            <a:ext cx="6404956" cy="5257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052560" y="1234440"/>
            <a:ext cx="2743200" cy="50292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14173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3D66"/>
                </a:solidFill>
                <a:latin typeface="Calibri"/>
              </a:rPr>
              <a:t>Как читать схему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874519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596"/>
                </a:solidFill>
                <a:latin typeface="Calibri"/>
              </a:rPr>
              <a:t>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1874519"/>
            <a:ext cx="1783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212121"/>
                </a:solidFill>
                <a:latin typeface="Calibri"/>
              </a:rPr>
              <a:t>маркер точки доступа Eltex WEP-2AC Smart с подписью AP-n и координатами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953511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596"/>
                </a:solidFill>
                <a:latin typeface="Calibri"/>
              </a:rPr>
              <a:t>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2953511"/>
            <a:ext cx="1783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212121"/>
                </a:solidFill>
                <a:latin typeface="Calibri"/>
              </a:rPr>
              <a:t>номер помещения по экспликации листа 14 АР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4032503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596"/>
                </a:solidFill>
                <a:latin typeface="Calibri"/>
              </a:rPr>
              <a:t>линии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4032503"/>
            <a:ext cx="1783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212121"/>
                </a:solidFill>
                <a:latin typeface="Calibri"/>
              </a:rPr>
              <a:t>несущие ЖБ стены 200 мм и перегородки, масштаб 1:100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5111495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596"/>
                </a:solidFill>
                <a:latin typeface="Calibri"/>
              </a:rPr>
              <a:t>сетка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5111495"/>
            <a:ext cx="1783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212121"/>
                </a:solidFill>
                <a:latin typeface="Calibri"/>
              </a:rPr>
              <a:t>габариты этажа 30,0 × 27,0 м; линейка 10 м внизу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6190487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596"/>
                </a:solidFill>
                <a:latin typeface="Calibri"/>
              </a:rPr>
              <a:t>пастель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6190487"/>
            <a:ext cx="1783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212121"/>
                </a:solidFill>
                <a:latin typeface="Calibri"/>
              </a:rPr>
              <a:t>помещения разделены по экспликации листа 14; номера в кружках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58978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06C76"/>
                </a:solidFill>
                <a:latin typeface="Calibri"/>
              </a:rPr>
              <a:t>Тепловые карты уровней сигнала — на следующих слайдах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01968"/>
            <a:ext cx="11155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06C76"/>
                </a:solidFill>
                <a:latin typeface="Calibri"/>
              </a:rPr>
              <a:t>Wi-Fi проектирование · Eltex WEP-2AC Smart · лист 14 АР 27.03.26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D54F"/>
                </a:solidFill>
                <a:latin typeface="Calibri"/>
              </a:rPr>
              <a:t>ПОКРЫТИЕ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Зона покрытия 2,4 ГГц — основной диапазон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9FC5E2"/>
                </a:solidFill>
                <a:latin typeface="Calibr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9759" y="1078230"/>
            <a:ext cx="6387361" cy="5250180"/>
          </a:xfrm>
          <a:prstGeom prst="rect">
            <a:avLst/>
          </a:prstGeom>
          <a:noFill/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ifi_map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09" y="1097280"/>
            <a:ext cx="6349261" cy="5212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144000" y="1234440"/>
            <a:ext cx="2697480" cy="49377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41732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3D66"/>
                </a:solidFill>
                <a:latin typeface="Calibri"/>
              </a:rPr>
              <a:t>Комментарий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783080"/>
            <a:ext cx="23774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212121"/>
                </a:solidFill>
                <a:latin typeface="Calibri"/>
              </a:rPr>
              <a:t>• Цвет заливает каждую комнату — это зоны уровня сигнала RSSI; белые изолинии — границы зон −85/−80/−70/−67/−60/−50 дБм. Покрытие ≥ −70 дБм: 96,6% площади этажа, 100% рабочих помещений.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212121"/>
                </a:solidFill>
                <a:latin typeface="Calibri"/>
              </a:rPr>
              <a:t>• Сквозь одну ЖБ стену приём ≈ −45…−55 дБм — соседние комнаты слышат AP друг друга (используем для роуминга).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212121"/>
                </a:solidFill>
                <a:latin typeface="Calibri"/>
              </a:rPr>
              <a:t>• Каналы 1/6/11 распределяются шахматкой по коридору и северному ряду кабинетов.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212121"/>
                </a:solidFill>
                <a:latin typeface="Calibri"/>
              </a:rPr>
              <a:t>• Для санузлов/техпомещений сигнал ниже порога — это допустимо (не нормируются).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11155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06C76"/>
                </a:solidFill>
                <a:latin typeface="Calibri"/>
              </a:rPr>
              <a:t>Wi-Fi проектирование · Eltex WEP-2AC Smart · лист 14 АР 27.03.26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D54F"/>
                </a:solidFill>
                <a:latin typeface="Calibri"/>
              </a:rPr>
              <a:t>ПОКРЫТИЕ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Зона покрытия 5 ГГц — приоритетный трафик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9FC5E2"/>
                </a:solidFill>
                <a:latin typeface="Calibr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9759" y="1078230"/>
            <a:ext cx="6387361" cy="5250180"/>
          </a:xfrm>
          <a:prstGeom prst="rect">
            <a:avLst/>
          </a:prstGeom>
          <a:noFill/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ifi_map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09" y="1097280"/>
            <a:ext cx="6349261" cy="5212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144000" y="1234440"/>
            <a:ext cx="2697480" cy="49377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41732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3D66"/>
                </a:solidFill>
                <a:latin typeface="Calibri"/>
              </a:rPr>
              <a:t>Комментарий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783080"/>
            <a:ext cx="23774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212121"/>
                </a:solidFill>
                <a:latin typeface="Calibri"/>
              </a:rPr>
              <a:t>• Внутри «своего» помещения 5 ГГц держит ≥ −70 дБм на 100% площади (средние −32…−44 дБм) — сюда направляем видео и тесты (band steering).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212121"/>
                </a:solidFill>
                <a:latin typeface="Calibri"/>
              </a:rPr>
              <a:t>• ЖБ+базальт стоит 20 дБ против 12 дБ на 2,4 ГГц: сквозь одну стену приём −60…−70 дБм, сквозь две — ниже порога (затемнённые участки карты); ≥ −70 дБм — 86% площади этажа.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212121"/>
                </a:solidFill>
                <a:latin typeface="Calibri"/>
              </a:rPr>
              <a:t>• Широкие каналы 80 МГц включаем только в залах №12/13 и коридоре; DFS-каналы — вне близости окон.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212121"/>
                </a:solidFill>
                <a:latin typeface="Calibri"/>
              </a:rPr>
              <a:t>• Минус 10 дБ запаса по краю зоны компенсируется высотой потолка и ориентацией антенн вниз.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11155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06C76"/>
                </a:solidFill>
                <a:latin typeface="Calibri"/>
              </a:rPr>
              <a:t>Wi-Fi проектирование · Eltex WEP-2AC Smart · лист 14 АР 27.03.26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D54F"/>
                </a:solidFill>
                <a:latin typeface="Calibri"/>
              </a:rPr>
              <a:t>ДЕТАЛИЗАЦИЯ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Комментарии по каждой точке доступа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9FC5E2"/>
                </a:solidFill>
                <a:latin typeface="Calibr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52144"/>
            <a:ext cx="5486400" cy="7909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52144"/>
            <a:ext cx="91440" cy="790956"/>
          </a:xfrm>
          <a:prstGeom prst="rect">
            <a:avLst/>
          </a:prstGeom>
          <a:solidFill>
            <a:srgbClr val="00A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188720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3D66"/>
                </a:solidFill>
                <a:latin typeface="Calibri"/>
              </a:rPr>
              <a:t>AP-1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1207008"/>
            <a:ext cx="3977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06C76"/>
                </a:solidFill>
                <a:latin typeface="Calibri"/>
              </a:rPr>
              <a:t>x=26.5 м · y=3.8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444752"/>
            <a:ext cx="512064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212121"/>
                </a:solidFill>
                <a:latin typeface="Calibri"/>
              </a:rPr>
              <a:t>Кабинет специалистов УТЦ (№1) — центр помещения; заодно простреливает серверную №14 через одну стену.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997964"/>
            <a:ext cx="5486400" cy="7909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997964"/>
            <a:ext cx="91440" cy="790956"/>
          </a:xfrm>
          <a:prstGeom prst="rect">
            <a:avLst/>
          </a:prstGeom>
          <a:solidFill>
            <a:srgbClr val="00A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034540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3D66"/>
                </a:solidFill>
                <a:latin typeface="Calibri"/>
              </a:rPr>
              <a:t>AP-2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2052828"/>
            <a:ext cx="3977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06C76"/>
                </a:solidFill>
                <a:latin typeface="Calibri"/>
              </a:rPr>
              <a:t>x=26.7 м · y=9.7 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2290572"/>
            <a:ext cx="512064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212121"/>
                </a:solidFill>
                <a:latin typeface="Calibri"/>
              </a:rPr>
              <a:t>Кабинет преподавателей (№2) — компактный кабинет, один AP с запасом; сервит-доступ к №14.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843784"/>
            <a:ext cx="5486400" cy="7909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843784"/>
            <a:ext cx="91440" cy="790956"/>
          </a:xfrm>
          <a:prstGeom prst="rect">
            <a:avLst/>
          </a:prstGeom>
          <a:solidFill>
            <a:srgbClr val="00A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2880360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3D66"/>
                </a:solidFill>
                <a:latin typeface="Calibri"/>
              </a:rPr>
              <a:t>AP-3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2898648"/>
            <a:ext cx="3977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06C76"/>
                </a:solidFill>
                <a:latin typeface="Calibri"/>
              </a:rPr>
              <a:t>x=20.5 м · y=5.8 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136392"/>
            <a:ext cx="512064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212121"/>
                </a:solidFill>
                <a:latin typeface="Calibri"/>
              </a:rPr>
              <a:t>Класс ПК (№3) — самый плотный трафик (30 рабочих мест); AP над рядом столов, канал 1.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689604"/>
            <a:ext cx="5486400" cy="7909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689604"/>
            <a:ext cx="91440" cy="790956"/>
          </a:xfrm>
          <a:prstGeom prst="rect">
            <a:avLst/>
          </a:prstGeom>
          <a:solidFill>
            <a:srgbClr val="00A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726180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3D66"/>
                </a:solidFill>
                <a:latin typeface="Calibri"/>
              </a:rPr>
              <a:t>AP-4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20" y="3744468"/>
            <a:ext cx="3977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06C76"/>
                </a:solidFill>
                <a:latin typeface="Calibri"/>
              </a:rPr>
              <a:t>x=13.5 м · y=5.9 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3982212"/>
            <a:ext cx="512064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212121"/>
                </a:solidFill>
                <a:latin typeface="Calibri"/>
              </a:rPr>
              <a:t>Класс ТЭС УЭЦН (№4) — стенд + проектор; наведение на зону слушателей, канал 6.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35424"/>
            <a:ext cx="5486400" cy="7909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535424"/>
            <a:ext cx="91440" cy="790956"/>
          </a:xfrm>
          <a:prstGeom prst="rect">
            <a:avLst/>
          </a:prstGeom>
          <a:solidFill>
            <a:srgbClr val="00A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4572000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3D66"/>
                </a:solidFill>
                <a:latin typeface="Calibri"/>
              </a:rPr>
              <a:t>AP-5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20" y="4590288"/>
            <a:ext cx="3977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06C76"/>
                </a:solidFill>
                <a:latin typeface="Calibri"/>
              </a:rPr>
              <a:t>x=8.0 м · y=5.8 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828032"/>
            <a:ext cx="512064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212121"/>
                </a:solidFill>
                <a:latin typeface="Calibri"/>
              </a:rPr>
              <a:t>Класс корп. обучения №3 (№5) — зеркален AP-4, симметричная сетка каналов 11.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381244"/>
            <a:ext cx="5486400" cy="7909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381244"/>
            <a:ext cx="91440" cy="790956"/>
          </a:xfrm>
          <a:prstGeom prst="rect">
            <a:avLst/>
          </a:prstGeom>
          <a:solidFill>
            <a:srgbClr val="00A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417820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3D66"/>
                </a:solidFill>
                <a:latin typeface="Calibri"/>
              </a:rPr>
              <a:t>AP-6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5436108"/>
            <a:ext cx="3977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06C76"/>
                </a:solidFill>
                <a:latin typeface="Calibri"/>
              </a:rPr>
              <a:t>x=2.6 м · y=5.8 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" y="5673852"/>
            <a:ext cx="512064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212121"/>
                </a:solidFill>
                <a:latin typeface="Calibri"/>
              </a:rPr>
              <a:t>Гардероб (№6) — покрытие входа и зоны ожидания; низкая плотность клиентов, эконом-режим.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1152144"/>
            <a:ext cx="5486400" cy="7909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9632" y="1152144"/>
            <a:ext cx="91440" cy="790956"/>
          </a:xfrm>
          <a:prstGeom prst="rect">
            <a:avLst/>
          </a:prstGeom>
          <a:solidFill>
            <a:srgbClr val="00A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1188720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3D66"/>
                </a:solidFill>
                <a:latin typeface="Calibri"/>
              </a:rPr>
              <a:t>AP-12w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71232" y="1207008"/>
            <a:ext cx="3977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06C76"/>
                </a:solidFill>
                <a:latin typeface="Calibri"/>
              </a:rPr>
              <a:t>x=10.6 м · y=17.4 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1444752"/>
            <a:ext cx="512064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212121"/>
                </a:solidFill>
                <a:latin typeface="Calibri"/>
              </a:rPr>
              <a:t>Западная половина большого класса №12 (85 м²) — ширина зала &gt; эффективного радиуса одной AP на 5 ГГц.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1997964"/>
            <a:ext cx="5486400" cy="7909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2" y="1997964"/>
            <a:ext cx="91440" cy="790956"/>
          </a:xfrm>
          <a:prstGeom prst="rect">
            <a:avLst/>
          </a:prstGeom>
          <a:solidFill>
            <a:srgbClr val="00A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2034540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3D66"/>
                </a:solidFill>
                <a:latin typeface="Calibri"/>
              </a:rPr>
              <a:t>AP-12e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71232" y="2052828"/>
            <a:ext cx="3977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06C76"/>
                </a:solidFill>
                <a:latin typeface="Calibri"/>
              </a:rPr>
              <a:t>x=14.0 м · y=17.4 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2290572"/>
            <a:ext cx="512064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212121"/>
                </a:solidFill>
                <a:latin typeface="Calibri"/>
              </a:rPr>
              <a:t>Восточная половина класса №12 — вместе с AP-12w дают бесшовную ячеистую зону, каналы разносятся на 1/6.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99632" y="2843784"/>
            <a:ext cx="5486400" cy="7909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99632" y="2843784"/>
            <a:ext cx="91440" cy="790956"/>
          </a:xfrm>
          <a:prstGeom prst="rect">
            <a:avLst/>
          </a:prstGeom>
          <a:solidFill>
            <a:srgbClr val="00A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2880360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3D66"/>
                </a:solidFill>
                <a:latin typeface="Calibri"/>
              </a:rPr>
              <a:t>AP-13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71232" y="2898648"/>
            <a:ext cx="3977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06C76"/>
                </a:solidFill>
                <a:latin typeface="Calibri"/>
              </a:rPr>
              <a:t>x=20.5 м · y=16.9 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3136392"/>
            <a:ext cx="512064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212121"/>
                </a:solidFill>
                <a:latin typeface="Calibri"/>
              </a:rPr>
              <a:t>Класс корп. обучения №1 (96 м²) — единый AP в центре; примыкающие №15/16 получают остаточный сигнал.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9632" y="3689604"/>
            <a:ext cx="5486400" cy="7909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99632" y="3689604"/>
            <a:ext cx="91440" cy="790956"/>
          </a:xfrm>
          <a:prstGeom prst="rect">
            <a:avLst/>
          </a:prstGeom>
          <a:solidFill>
            <a:srgbClr val="00A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3726180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3D66"/>
                </a:solidFill>
                <a:latin typeface="Calibri"/>
              </a:rPr>
              <a:t>AP-18w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71232" y="3744468"/>
            <a:ext cx="3977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06C76"/>
                </a:solidFill>
                <a:latin typeface="Calibri"/>
              </a:rPr>
              <a:t>x=11.0 м · y=12.5 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3982212"/>
            <a:ext cx="512064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212121"/>
                </a:solidFill>
                <a:latin typeface="Calibri"/>
              </a:rPr>
              <a:t>Западный коридор — «сота» для №7–11 (санузлы, склад СИЗ, раздевалка); висячая установка у подвесного потолка.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99632" y="4535424"/>
            <a:ext cx="5486400" cy="7909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199632" y="4535424"/>
            <a:ext cx="91440" cy="790956"/>
          </a:xfrm>
          <a:prstGeom prst="rect">
            <a:avLst/>
          </a:prstGeom>
          <a:solidFill>
            <a:srgbClr val="00A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4572000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3D66"/>
                </a:solidFill>
                <a:latin typeface="Calibri"/>
              </a:rPr>
              <a:t>AP-18e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71232" y="4590288"/>
            <a:ext cx="39776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06C76"/>
                </a:solidFill>
                <a:latin typeface="Calibri"/>
              </a:rPr>
              <a:t>x=20.5 м · y=12.5 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828032"/>
            <a:ext cx="5120640" cy="4800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900" b="0">
                <a:solidFill>
                  <a:srgbClr val="212121"/>
                </a:solidFill>
                <a:latin typeface="Calibri"/>
              </a:rPr>
              <a:t>Восточный коридор у группы №14–17 — покрытие транзита и служебных помещений, стыкуется с AP-1/AP-13.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6601968"/>
            <a:ext cx="11155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06C76"/>
                </a:solidFill>
                <a:latin typeface="Calibri"/>
              </a:rPr>
              <a:t>Wi-Fi проектирование · Eltex WEP-2AC Smart · лист 14 АР 27.03.26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D54F"/>
                </a:solidFill>
                <a:latin typeface="Calibri"/>
              </a:rPr>
              <a:t>ЦИФРЫ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Уровни сигнала по всем 18 помещениям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9FC5E2"/>
                </a:solidFill>
                <a:latin typeface="Calibri"/>
              </a:rP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06627" y="1170432"/>
          <a:ext cx="10378440" cy="4873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2514600"/>
                <a:gridCol w="640080"/>
                <a:gridCol w="868680"/>
                <a:gridCol w="1554480"/>
                <a:gridCol w="960120"/>
                <a:gridCol w="1554480"/>
                <a:gridCol w="960120"/>
                <a:gridCol w="914400"/>
              </a:tblGrid>
              <a:tr h="26469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№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Помещение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S, м²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AP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2,4 ГГц avg/min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cov ≥−70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5 ГГц avg/min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cov ≥−70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Статус</a:t>
                      </a:r>
                    </a:p>
                  </a:txBody>
                  <a:tcPr anchor="ctr">
                    <a:solidFill>
                      <a:srgbClr val="0B3D6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Кабинет специалистов УТЦ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AP-1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-27 / -36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-35 / -46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8E3E"/>
                          </a:solidFill>
                          <a:latin typeface="Calibri"/>
                        </a:rPr>
                        <a:t>✔ норма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Кабинет преподавателей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AP-2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-23 / -32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-30 / -42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8E3E"/>
                          </a:solidFill>
                          <a:latin typeface="Calibri"/>
                        </a:rPr>
                        <a:t>✔ норма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Класс ПК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AP-3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-32 / -41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-41 / -52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8E3E"/>
                          </a:solidFill>
                          <a:latin typeface="Calibri"/>
                        </a:rPr>
                        <a:t>✔ норма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Класс ТЭС УЭЦН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AP-4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-30 / -40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-39 / -51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8E3E"/>
                          </a:solidFill>
                          <a:latin typeface="Calibri"/>
                        </a:rPr>
                        <a:t>✔ норма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Класс корп. обучения №3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AP-5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-30 / -40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-39 / -50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8E3E"/>
                          </a:solidFill>
                          <a:latin typeface="Calibri"/>
                        </a:rPr>
                        <a:t>✔ норма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Гардероб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AP-6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-30 / -39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-39 / -50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8E3E"/>
                          </a:solidFill>
                          <a:latin typeface="Calibri"/>
                        </a:rPr>
                        <a:t>✔ норма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Санузел мужской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AP-12w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-67 / -82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74%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-94 / -118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9E9E9E"/>
                          </a:solidFill>
                          <a:latin typeface="Calibri"/>
                        </a:rPr>
                        <a:t>— служеб.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Санузел женский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AP-12w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-72 / -85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-100 / -121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9E9E9E"/>
                          </a:solidFill>
                          <a:latin typeface="Calibri"/>
                        </a:rPr>
                        <a:t>— служеб.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Тех. помещение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AP-12w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-86 / -90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-123 / -127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9E9E9E"/>
                          </a:solidFill>
                          <a:latin typeface="Calibri"/>
                        </a:rPr>
                        <a:t>— служеб.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Склад хранения СИЗ РВ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AP-12w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-55 / -68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-74 / -95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8E3E"/>
                          </a:solidFill>
                          <a:latin typeface="Calibri"/>
                        </a:rPr>
                        <a:t>✔ норма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Раздевалка спецодежды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AP-12w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-48 / -51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-66 / -70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8E3E"/>
                          </a:solidFill>
                          <a:latin typeface="Calibri"/>
                        </a:rPr>
                        <a:t>✔ норма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Класс корп. обучения №2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AP-12w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-32 / -57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-41 / -76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8E3E"/>
                          </a:solidFill>
                          <a:latin typeface="Calibri"/>
                        </a:rPr>
                        <a:t>✔ норма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Класс корп. обучения №1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AP-13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-35 / -45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-44 / -57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8E3E"/>
                          </a:solidFill>
                          <a:latin typeface="Calibri"/>
                        </a:rPr>
                        <a:t>✔ норма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Серверная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AP-2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-63 / -66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-89 / -93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9E9E9E"/>
                          </a:solidFill>
                          <a:latin typeface="Calibri"/>
                        </a:rPr>
                        <a:t>— служеб.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Электрощитовая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AP-13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-67 / -68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-94 / -96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9E9E9E"/>
                          </a:solidFill>
                          <a:latin typeface="Calibri"/>
                        </a:rPr>
                        <a:t>— служеб.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Склад-Архив УТЦ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AP-13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-51 / -54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-70 / -73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59%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9E9E9E"/>
                          </a:solidFill>
                          <a:latin typeface="Calibri"/>
                        </a:rPr>
                        <a:t>— служеб.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ИТП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AP-13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-58 / -81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99%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-79 / -116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9E9E9E"/>
                          </a:solidFill>
                          <a:latin typeface="Calibri"/>
                        </a:rPr>
                        <a:t>— служеб.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Коридор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AP-18e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-32 / -57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-42 / -83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212121"/>
                          </a:solidFill>
                          <a:latin typeface="Calibri"/>
                        </a:rPr>
                        <a:t>99%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8E3E"/>
                          </a:solidFill>
                          <a:latin typeface="Calibri"/>
                        </a:rPr>
                        <a:t>✔ норма</a:t>
                      </a:r>
                    </a:p>
                  </a:txBody>
                  <a:tcPr marT="12700" marB="12700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E8E3E"/>
                </a:solidFill>
                <a:latin typeface="Calibri"/>
              </a:rPr>
              <a:t>✔ </a:t>
            </a:r>
            <a:r>
              <a:rPr sz="1050" b="0">
                <a:solidFill>
                  <a:srgbClr val="606C76"/>
                </a:solidFill>
                <a:latin typeface="Calibri"/>
              </a:rPr>
              <a:t>нормируемое помещение, полное покрытие · </a:t>
            </a:r>
            <a:r>
              <a:rPr sz="1050" b="1">
                <a:solidFill>
                  <a:srgbClr val="F9A825"/>
                </a:solidFill>
                <a:latin typeface="Calibri"/>
              </a:rPr>
              <a:t>~ </a:t>
            </a:r>
            <a:r>
              <a:rPr sz="1050" b="0">
                <a:solidFill>
                  <a:srgbClr val="606C76"/>
                </a:solidFill>
                <a:latin typeface="Calibri"/>
              </a:rPr>
              <a:t>рабочее с частичным 5 ГГц (сквозь ЖБ) · </a:t>
            </a:r>
            <a:r>
              <a:rPr sz="1050" b="1">
                <a:solidFill>
                  <a:srgbClr val="606C76"/>
                </a:solidFill>
                <a:latin typeface="Calibri"/>
              </a:rPr>
              <a:t>— </a:t>
            </a:r>
            <a:r>
              <a:rPr sz="1050" b="0">
                <a:solidFill>
                  <a:srgbClr val="606C76"/>
                </a:solidFill>
                <a:latin typeface="Calibri"/>
              </a:rPr>
              <a:t>санитарные/технические: Wi-Fi не нормируется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01968"/>
            <a:ext cx="11155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06C76"/>
                </a:solidFill>
                <a:latin typeface="Calibri"/>
              </a:rPr>
              <a:t>Wi-Fi проектирование · Eltex WEP-2AC Smart · лист 14 АР 27.03.26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38100"/>
          </a:xfrm>
          <a:prstGeom prst="rect">
            <a:avLst/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D54F"/>
                </a:solidFill>
                <a:latin typeface="Calibri"/>
              </a:rPr>
              <a:t>ИТОГ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Calibri"/>
              </a:rPr>
              <a:t>Выводы и рекомендации по монтажу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5603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>
                <a:solidFill>
                  <a:srgbClr val="9FC5E2"/>
                </a:solidFill>
                <a:latin typeface="Calibr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486400" cy="23774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3D66"/>
                </a:solidFill>
                <a:latin typeface="Calibri"/>
              </a:rPr>
              <a:t>Выводы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5029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▸ 11 AP Eltex WEP-2AC Smart закрывают 100% рабочих помещений на 2,4 ГГц (RSSI ≥ −70 дБм).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▸ На 5 ГГц полное покрытие внутри каждого помещения; сквозь ЖБ+базальт стены приём ограничен — решается band steering и роумингом.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▸ Резерв производительности: средние уровни −22…−35 дБм позволяют плотность ≥ 30 клиентов на AP без деградации.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486400" cy="2377440"/>
          </a:xfrm>
          <a:prstGeom prst="roundRect">
            <a:avLst>
              <a:gd name="adj" fmla="val 8000"/>
            </a:avLst>
          </a:prstGeom>
          <a:solidFill>
            <a:srgbClr val="0B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6304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D54F"/>
                </a:solidFill>
                <a:latin typeface="Calibri"/>
              </a:rPr>
              <a:t>Рекомендации по монтажу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19"/>
            <a:ext cx="5029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▸ Установка на потолок, высота 3,5–4 м, антеннами вниз; питание PoE 802.3af от коммутатора IDF (серверная №14).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▸ Каналы: 1/6/11 шахматкой по периметру; 5 ГГц — 80 МГц в залах, DFS вне окон; мощность down-link −2 дБ от максимума.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▸ Настроить 802.11k/v/r и band steering; SSID единый, VLAN учёба/персонал; pre-auth гостевой портал.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▸ После монтажа — активный site survey (walk-test) и калибровка модели по замерам.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112014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148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3D66"/>
                </a:solidFill>
                <a:latin typeface="Calibri"/>
              </a:rPr>
              <a:t>Ведомость точек доступа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526280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00A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53712"/>
            <a:ext cx="1691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AP-1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33472" y="4526280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00A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33472" y="4553712"/>
            <a:ext cx="1691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AP-2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43984" y="4526280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00A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3984" y="4553712"/>
            <a:ext cx="1691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AP-3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4526280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00A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4553712"/>
            <a:ext cx="1691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AP-4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8" y="4526280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00A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5008" y="4553712"/>
            <a:ext cx="1691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AP-5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4526280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00A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4553712"/>
            <a:ext cx="1691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AP-6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983480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14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010912"/>
            <a:ext cx="1691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AP-12w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33472" y="4983480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14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33472" y="5010912"/>
            <a:ext cx="1691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AP-12e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3984" y="4983480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14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43984" y="5010912"/>
            <a:ext cx="1691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AP-13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54496" y="4983480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14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4496" y="5010912"/>
            <a:ext cx="1691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AP-18w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5008" y="4983480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14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65008" y="5010912"/>
            <a:ext cx="1691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AP-18e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5778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06C76"/>
                </a:solidFill>
                <a:latin typeface="Calibri"/>
              </a:rPr>
              <a:t>Итого: 11 × Eltex WEP-2AC Smart · 11 × инжектор/PoE-порт · крепёж подвесной потолок · трассы от щита №15/серверной №14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601968"/>
            <a:ext cx="11155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06C76"/>
                </a:solidFill>
                <a:latin typeface="Calibri"/>
              </a:rPr>
              <a:t>Wi-Fi проектирование · Eltex WEP-2AC Smart · лист 14 АР 27.03.26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