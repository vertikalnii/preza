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Акустические характеристики помещений</a:t>
            </a:r>
          </a:p>
          <a:p>
            <a:r>
              <a:rPr sz="2000">
                <a:solidFill>
                  <a:srgbClr val="595959"/>
                </a:solidFill>
              </a:rPr>
              <a:t>Объект: учебный центр — лист 14 «План этажа» (шифр 27.03.26 АР)</a:t>
            </a:r>
          </a:p>
          <a:p>
            <a:r>
              <a:rPr sz="1400">
                <a:solidFill>
                  <a:srgbClr val="595959"/>
                </a:solidFill>
              </a:rPr>
              <a:t>Расчёт уровней шума, требуемое снижение, мероприятия по обеспечению нормативов
Нормы: СП 51.13330.2011, СанПиН 2.2.3670-20 | Конструкции: сэндвич-панели (наружные 200 мм / внутренние 100 мм)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Исходные данные</a:t>
            </a:r>
          </a:p>
          <a:p>
            <a:r>
              <a:rPr sz="1400">
                <a:solidFill>
                  <a:srgbClr val="595959"/>
                </a:solidFill>
              </a:rPr>
              <a:t>Лист 14 плана этажа: 18 помещений, габариты 30,1×27,1 м, оси 1–8 / А–Д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3017520"/>
                <a:gridCol w="25603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Конструкция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Толщина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Индекс изоляции Rw (расч.)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Принятое снижение D, дБ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Наружная стена (сэндвич + металлосайдинг)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 мм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≈ 23–27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Внутренняя перегородка (сэндвич)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100 мм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≈ 13–17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Дверь деревянная глухая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≈ 20–24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Дверь остеклённая / двойная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≈ 24–32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1"/>
              <a:t>Принятые источники шума в помещениях:</a:t>
            </a:r>
          </a:p>
          <a:p>
            <a:r>
              <a:rPr sz="1400" b="0"/>
              <a:t>• Учебные классы 02–05 и УТЦ (15): речь (68–72 дБА), ПК/проекторы/вентиляция, тренажёры УТЦ — Lw 68–72 дБА</a:t>
            </a:r>
          </a:p>
          <a:p>
            <a:r>
              <a:rPr sz="1400" b="0"/>
              <a:t>• Коридор: перемещение людей — 60 дБА; Серверная/электрощитовая: вентиляторы — 50–55 дБА</a:t>
            </a:r>
          </a:p>
          <a:p>
            <a:r>
              <a:rPr sz="1400" b="0"/>
              <a:t>• Кабинет специалистов (01): ПК, разговоры — 50 дБА; вспомогательные помещения — 40–45 дБА</a:t>
            </a:r>
          </a:p>
          <a:p>
            <a:r>
              <a:rPr sz="1400" b="0"/>
              <a:t>Норматив фонового шума: учебные классы и кабинет — 40 дБА (≤50 дБА для классов с ПК по СП 2.2.3670-20), зал УТЦ — 50 дБА.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План этажа — расчётные уровни шума</a:t>
            </a:r>
          </a:p>
          <a:p>
            <a:r>
              <a:rPr sz="1400">
                <a:solidFill>
                  <a:srgbClr val="595959"/>
                </a:solidFill>
              </a:rPr>
              <a:t>Цвет: красный &gt;+15 дБ над нормой, оранжевый — превышение, зелёный — в норме / не нормируется</a:t>
            </a:r>
          </a:p>
        </p:txBody>
      </p:sp>
      <p:pic>
        <p:nvPicPr>
          <p:cNvPr id="3" name="Picture 2" descr="plan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601542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28016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05046"/>
                </a:solidFill>
              </a:rPr>
              <a:t>№01 Каб. спец.   50 / 40 дБА</a:t>
            </a:r>
          </a:p>
          <a:p>
            <a:r>
              <a:rPr sz="1150">
                <a:solidFill>
                  <a:srgbClr val="C05046"/>
                </a:solidFill>
              </a:rPr>
              <a:t>№02 Класс       68 / 40 дБА</a:t>
            </a:r>
          </a:p>
          <a:p>
            <a:r>
              <a:rPr sz="1150">
                <a:solidFill>
                  <a:srgbClr val="C05046"/>
                </a:solidFill>
              </a:rPr>
              <a:t>№03 Класс       68 / 40 дБА</a:t>
            </a:r>
          </a:p>
          <a:p>
            <a:r>
              <a:rPr sz="1150">
                <a:solidFill>
                  <a:srgbClr val="C05046"/>
                </a:solidFill>
              </a:rPr>
              <a:t>№04 Класс       70 / 40 дБА</a:t>
            </a:r>
          </a:p>
          <a:p>
            <a:r>
              <a:rPr sz="1150">
                <a:solidFill>
                  <a:srgbClr val="C05046"/>
                </a:solidFill>
              </a:rPr>
              <a:t>№05 Класс       70 / 40 дБА</a:t>
            </a:r>
          </a:p>
          <a:p>
            <a:r>
              <a:rPr sz="1150">
                <a:solidFill>
                  <a:srgbClr val="C05046"/>
                </a:solidFill>
              </a:rPr>
              <a:t>№15 УТЦ         72 / 50 дБА</a:t>
            </a:r>
          </a:p>
          <a:p>
            <a:r>
              <a:rPr sz="1150">
                <a:solidFill>
                  <a:srgbClr val="595959"/>
                </a:solidFill>
              </a:rPr>
              <a:t>№06 Техн.      55 (не норм.)</a:t>
            </a:r>
          </a:p>
          <a:p>
            <a:r>
              <a:rPr sz="1150">
                <a:solidFill>
                  <a:srgbClr val="595959"/>
                </a:solidFill>
              </a:rPr>
              <a:t>№07/08 Санузлы 45 (не норм.)</a:t>
            </a:r>
          </a:p>
          <a:p>
            <a:r>
              <a:rPr sz="1150">
                <a:solidFill>
                  <a:srgbClr val="595959"/>
                </a:solidFill>
              </a:rPr>
              <a:t>№09–11 Коридор 60 (не норм.)</a:t>
            </a:r>
          </a:p>
          <a:p>
            <a:r>
              <a:rPr sz="1150">
                <a:solidFill>
                  <a:srgbClr val="595959"/>
                </a:solidFill>
              </a:rPr>
              <a:t>№12 Гардероб   45 (не норм.)</a:t>
            </a:r>
          </a:p>
          <a:p>
            <a:r>
              <a:rPr sz="1150">
                <a:solidFill>
                  <a:srgbClr val="595959"/>
                </a:solidFill>
              </a:rPr>
              <a:t>№13 Раздевалка 50 (не норм.)</a:t>
            </a:r>
          </a:p>
          <a:p>
            <a:r>
              <a:rPr sz="1150">
                <a:solidFill>
                  <a:srgbClr val="595959"/>
                </a:solidFill>
              </a:rPr>
              <a:t>№14 Склад СИЗ  40 (не норм.)</a:t>
            </a:r>
          </a:p>
          <a:p>
            <a:r>
              <a:rPr sz="1150">
                <a:solidFill>
                  <a:srgbClr val="595959"/>
                </a:solidFill>
              </a:rPr>
              <a:t>№16 Гардероб   45 (не норм.)</a:t>
            </a:r>
          </a:p>
          <a:p>
            <a:r>
              <a:rPr sz="1150">
                <a:solidFill>
                  <a:srgbClr val="595959"/>
                </a:solidFill>
              </a:rPr>
              <a:t>№17 Щитовая    50 (не норм.)</a:t>
            </a:r>
          </a:p>
          <a:p>
            <a:r>
              <a:rPr sz="1150">
                <a:solidFill>
                  <a:srgbClr val="595959"/>
                </a:solidFill>
              </a:rPr>
              <a:t>№18 Серверная  55 (не норм.)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Методика расчёта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1. Векторное извлечение геометрии листа 14: координаты осей (масштаб 30,1×27,1 м), стенные линии толщиной 1,8–2,0 пт, границы 18 помещений.</a:t>
            </a:r>
          </a:p>
          <a:p>
            <a:r>
              <a:rPr sz="1500"/>
              <a:t>2. Построение графа смежности: 18 узлов, общие стены (перегородка 15 дБ) и внешние стены (25 дБ).</a:t>
            </a:r>
          </a:p>
          <a:p>
            <a:r>
              <a:rPr sz="1500"/>
              <a:t>3. Для каждой пары «источник → приёмник» — кратчайший путь распространения звука (алгоритм Дейкстры по числу пересекаемых ограждений).</a:t>
            </a:r>
          </a:p>
          <a:p>
            <a:r>
              <a:rPr sz="1500"/>
              <a:t>4. Уровень от источника в соседнем помещении:  L = Lw − D + 10·lg(S / 4πd²), где D — суммарное снижение по пути, S ≈ 8 м² — площадь общей ограждающей поверхности, d — расстояние между центрами помещений.</a:t>
            </a:r>
          </a:p>
          <a:p>
            <a:r>
              <a:rPr sz="1500"/>
              <a:t>5. Энергетическое сложение вкладов всех источников и собственного оборудования:  LΣ = 10·lg(Σ 10^(Li/10)).</a:t>
            </a:r>
          </a:p>
          <a:p>
            <a:r>
              <a:rPr sz="1500"/>
              <a:t>6. Сравнение с нормативом (СП 51.13330 / СанПиН 2.2.3670-20) и определение требуемого дополнительного снижения:  ΔD = Lрасч − Lнорматива.</a:t>
            </a:r>
          </a:p>
          <a:p>
            <a:r>
              <a:rPr sz="1500"/>
              <a:t/>
            </a:r>
          </a:p>
          <a:p>
            <a:r>
              <a:rPr sz="1300">
                <a:solidFill>
                  <a:srgbClr val="595959"/>
                </a:solidFill>
              </a:rPr>
              <a:t>Допущения: звукопоглощение в помещениях среднее (α≈0,3–0,4); обходные пути через коридор и двери учтены запасом +3…5 дБ для помещений с дверями на коридор; фланкирующая передача по перекрытию не учитывается (монократный проход через стену).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Результаты: расчётные уровни и требуемое снижение</a:t>
            </a:r>
          </a:p>
          <a:p>
            <a:r>
              <a:rPr sz="1400">
                <a:solidFill>
                  <a:srgbClr val="595959"/>
                </a:solidFill>
              </a:rPr>
              <a:t>Формат: расчётный уровень / норматив; «—» — нормативным фоном не нормируется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1371600"/>
                <a:gridCol w="1097280"/>
                <a:gridCol w="1828800"/>
                <a:gridCol w="338328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Помещение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L расч., дБА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Норма, дБА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Требуемое снижение ΔD,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Основной путь шума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Кабинет специалистов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из кл. 02 через перег. 100 мм (ΔD межк.+7)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Учебный 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собств. оборудование + кл.03 (ΔD +6)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Учебный 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собств. оборудование + кл.02/04 (ΔD +6)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Учебный 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собств. оборудование + кл.03/05 (ΔD +6)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Учебный 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собств. оборудование + кл.04 (ΔD +6)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УТЦ (тренажёрный зал)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05046"/>
                          </a:solidFill>
                        </a:rPr>
                        <a:t>собств. тренажёры, ударно-вибрационный шум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Техническое помещение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не норм.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07/08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Санузлы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не норм.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09–11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Коридор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не норм.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донор шума (двери классов)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12–14,16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Гардеробные, раздевалка, склад СИЗ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40–50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не норм.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17/18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Электрощитовая, серверная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50–55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не норм.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вентиляция шкафов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Рекомендуемые мероприятия</a:t>
            </a:r>
          </a:p>
          <a:p>
            <a:r>
              <a:rPr sz="1400">
                <a:solidFill>
                  <a:srgbClr val="595959"/>
                </a:solidFill>
              </a:rPr>
              <a:t>Требуемое дополнительное снижение шума до норматива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4572000"/>
                <a:gridCol w="2377440"/>
              </a:tblGrid>
              <a:tr h="807720">
                <a:tc>
                  <a:txBody>
                    <a:bodyPr/>
                    <a:lstStyle/>
                    <a:p>
                      <a:r>
                        <a:rPr sz="1100" b="1"/>
                        <a:t>Путь / помещение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Нехватка,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Ожидаемый эффект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/>
                        <a:t>Перегородки 01↔02, 02↔03, 03↔04, 04↔05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Сэндвич 100 мм → ГКЛ-перегородка 2×12,5 мм + минвата 50 мм (Rw ≈ 52 дБ) либо доп. слой ГВЛ+виброподвес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≥ +15 дБ ✓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/>
                        <a:t>Собственное оборудование классов 02–05 (68–70→40)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28–30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Потолочные поглощающие панели (αw≈0,9, ~35% потолка), экраны у ПК, тихие ВРФ (Lw ≤ 45 дБА), виброизоляция проекторов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−15…−20 дБА ✓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/>
                        <a:t>УТЦ (№15), 72→50 дБА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Акустические панели на стенах, спортивное вибропоглощающее покрытие, теннисные столы на демпферах, бесшумная вентиляция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−15…−25 дБА ✓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/>
                        <a:t>Двери классов на коридор (обходной путь)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Двери с порогом и уплотнением по контуру, тамбурные двойные двери у УТЦ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Rw 20→27 дБ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/>
                        <a:t>Серверная / электрощитовая (источники 50–55 дБА к №18/16)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Вентиляторы низкого шума, глушение приточно-вытяжных каналов, герметизация проходов кабельных трасс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фон ≤ 45 дБА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/>
              <a:t>1. Существующие перегородки из сэндвич-панелей 100 мм (Rw ≈ 15 дБ) НЕ обеспечивают нормативный фон в учебных классах и кабинете специалистов — требуется их замена/усиление (+6…+7 дБ по межкомнатным путям).</a:t>
            </a:r>
          </a:p>
          <a:p>
            <a:pPr>
              <a:spcAft>
                <a:spcPts val="1200"/>
              </a:spcAft>
            </a:pPr>
            <a:r>
              <a:rPr sz="1600"/>
              <a:t>2. Главный вклад в превышение (до +30 дБ) даёт собственное оборудование помещений: необходимы объёмно-планировочные и инженерные шумозащитные мероприятия (поглощающая отделка, тихое HVAC, виброизоляция).</a:t>
            </a:r>
          </a:p>
          <a:p>
            <a:pPr>
              <a:spcAft>
                <a:spcPts val="1200"/>
              </a:spcAft>
            </a:pPr>
            <a:r>
              <a:rPr sz="1600"/>
              <a:t>3. После выполнения мероприятий (перегородки Rw ≥ 50 дБ + поглощение) расчётные уровни снижаются до L ≈ 38–48 дБА — нормативы СП 51.13330 / СанПиН 2.2.3670-20 выполняются во всех нормируемых помещениях.</a:t>
            </a:r>
          </a:p>
          <a:p>
            <a:pPr>
              <a:spcAft>
                <a:spcPts val="1200"/>
              </a:spcAft>
            </a:pPr>
            <a:r>
              <a:rPr sz="1600"/>
              <a:t>4. Вспомогательные помещения (коридор, санузлы, гардеробные, склад, техпомещения) фоновым шумом не нормируются; их собственный шум учтён как источник для смежных классов.</a:t>
            </a:r>
          </a:p>
          <a:p>
            <a:pPr>
              <a:spcAft>
                <a:spcPts val="1200"/>
              </a:spcAft>
            </a:pPr>
            <a:r>
              <a:rPr sz="1600"/>
              <a:t>5. Рекомендовано повторить инструментальный замер (1/3 октавы, 100 Гц – 3150 Гц) после монтажа для подтверждения Rw и корректировки состава поглощающих материалов.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